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6" r:id="rId3"/>
    <p:sldId id="287" r:id="rId4"/>
    <p:sldId id="288" r:id="rId5"/>
    <p:sldId id="263" r:id="rId6"/>
    <p:sldId id="289" r:id="rId7"/>
    <p:sldId id="261" r:id="rId8"/>
    <p:sldId id="264" r:id="rId9"/>
    <p:sldId id="266" r:id="rId10"/>
    <p:sldId id="267" r:id="rId11"/>
    <p:sldId id="268" r:id="rId12"/>
    <p:sldId id="269" r:id="rId13"/>
    <p:sldId id="272" r:id="rId14"/>
    <p:sldId id="270" r:id="rId15"/>
    <p:sldId id="271" r:id="rId16"/>
    <p:sldId id="274" r:id="rId17"/>
    <p:sldId id="273" r:id="rId18"/>
    <p:sldId id="275" r:id="rId19"/>
    <p:sldId id="277" r:id="rId20"/>
    <p:sldId id="278" r:id="rId21"/>
    <p:sldId id="280" r:id="rId22"/>
    <p:sldId id="281" r:id="rId23"/>
    <p:sldId id="282" r:id="rId24"/>
    <p:sldId id="283" r:id="rId25"/>
    <p:sldId id="25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563FE8-779C-4739-87B7-B9E40091C581}" v="175" dt="2026-02-18T10:07:13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38" d="100"/>
          <a:sy n="3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6205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3C1AB-DFBC-1988-8556-753B74F8F87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888384" y="3511782"/>
            <a:ext cx="841523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2025 Ball-by-Ball Performance Analysis Using Web Scraping and Exploratory Data Analytics</a:t>
            </a:r>
          </a:p>
        </p:txBody>
      </p:sp>
      <p:sp>
        <p:nvSpPr>
          <p:cNvPr id="2" name="Google Shape;99;p1">
            <a:extLst>
              <a:ext uri="{FF2B5EF4-FFF2-40B4-BE49-F238E27FC236}">
                <a16:creationId xmlns:a16="http://schemas.microsoft.com/office/drawing/2014/main" id="{6A92E04A-E18F-1AB9-32F8-A9FA29483AAF}"/>
              </a:ext>
            </a:extLst>
          </p:cNvPr>
          <p:cNvSpPr txBox="1"/>
          <p:nvPr/>
        </p:nvSpPr>
        <p:spPr>
          <a:xfrm>
            <a:off x="4370285" y="4571338"/>
            <a:ext cx="362309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457</a:t>
            </a:r>
          </a:p>
          <a:p>
            <a:pPr lvl="0"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Associates:</a:t>
            </a:r>
          </a:p>
          <a:p>
            <a:pPr lvl="0"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Kora Kasi Obul Reddy</a:t>
            </a:r>
          </a:p>
          <a:p>
            <a:pPr lvl="0"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Jaggumanthi Nagendra Krishna</a:t>
            </a:r>
          </a:p>
          <a:p>
            <a:pPr lvl="0"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Godugu Rajendar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44E5-2B5B-F27A-E807-1DB9DC5F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1FBE-E66E-C639-6F2E-975EE9DEE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6287" y="276013"/>
            <a:ext cx="3019425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1901B-8323-C5E4-9F2C-4086E51A2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" y="1154430"/>
            <a:ext cx="11426190" cy="4509769"/>
          </a:xfrm>
        </p:spPr>
        <p:txBody>
          <a:bodyPr>
            <a:normAutofit/>
          </a:bodyPr>
          <a:lstStyle/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IPL generates a large volume of ball-by-ball cricket data, making it suitable for data analytics.</a:t>
            </a:r>
          </a:p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collecting and analyzing match data using web scraping and exploratory data analysis (EDA) techniques.</a:t>
            </a:r>
          </a:p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processed through data cleaning, transformation, and feature engineering to make suitable for analysis.</a:t>
            </a:r>
          </a:p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understanding team performance, player contributions, match phases, and decision making factors likes toss outcomes and scoring trends.</a:t>
            </a:r>
          </a:p>
        </p:txBody>
      </p:sp>
    </p:spTree>
    <p:extLst>
      <p:ext uri="{BB962C8B-B14F-4D97-AF65-F5344CB8AC3E}">
        <p14:creationId xmlns:p14="http://schemas.microsoft.com/office/powerpoint/2010/main" val="1638561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3A19-307B-1E28-C583-9452DDC9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A907-70C4-EBAD-2EEB-03A90A96A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238" y="292056"/>
            <a:ext cx="3723524" cy="558176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3CE5D-CE3F-AC81-F8FF-320BAF49E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" y="1154431"/>
            <a:ext cx="11426190" cy="4179570"/>
          </a:xfrm>
        </p:spPr>
        <p:txBody>
          <a:bodyPr>
            <a:normAutofit/>
          </a:bodyPr>
          <a:lstStyle/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cricket data available online is unstructured and not directly usable for analysis or decision-making.</a:t>
            </a:r>
          </a:p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convert raw ball-by-ball data into meaningful insights that can support: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match phase contributes most to scoring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toss decisions impact match outcomes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teams and players perform consistently </a:t>
            </a:r>
          </a:p>
          <a:p>
            <a:pPr marL="439738" indent="-3556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valuable patterns remain hidden in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10241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4263-9063-C4C3-0114-739EE80B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B21B-63E2-FA88-7564-D11F4B93B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238" y="292056"/>
            <a:ext cx="3723524" cy="558176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6DAF4-E7EF-B440-A510-D2E6161D5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" y="1154431"/>
            <a:ext cx="11426190" cy="4179570"/>
          </a:xfrm>
        </p:spPr>
        <p:txBody>
          <a:bodyPr>
            <a:normAutofit/>
          </a:bodyPr>
          <a:lstStyle/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ball-by-ball IPL 2025 data using web scraping techniques.</a:t>
            </a:r>
          </a:p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data cleaning and preprocessing: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inconsistent formats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runs, extras, and wickets</a:t>
            </a:r>
          </a:p>
          <a:p>
            <a:pPr marL="1252538" indent="-355600" algn="just">
              <a:buClr>
                <a:srgbClr val="C00000"/>
              </a:buClr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team and player names</a:t>
            </a:r>
          </a:p>
          <a:p>
            <a:pPr marL="496887" indent="-4572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Exploratory Data Analysis to identify insights.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9738" indent="-3556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valuable patterns remain hidden in large datasets.</a:t>
            </a:r>
          </a:p>
          <a:p>
            <a:pPr marL="439738" indent="-3556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visual insights using charts and plots for better interpretation.</a:t>
            </a:r>
          </a:p>
          <a:p>
            <a:pPr marL="439738" indent="-355600" algn="just">
              <a:buClr>
                <a:srgbClr val="C00000"/>
              </a:buClr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derive data-driven conclusions about performance trends.</a:t>
            </a:r>
          </a:p>
        </p:txBody>
      </p:sp>
    </p:spTree>
    <p:extLst>
      <p:ext uri="{BB962C8B-B14F-4D97-AF65-F5344CB8AC3E}">
        <p14:creationId xmlns:p14="http://schemas.microsoft.com/office/powerpoint/2010/main" val="839272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D0F1-0991-ED7D-614B-88A40314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7E65-5262-EA0B-D775-798D265E4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6859" y="305223"/>
            <a:ext cx="2338282" cy="643044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pic>
        <p:nvPicPr>
          <p:cNvPr id="3" name="Picture 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20" y="3208839"/>
            <a:ext cx="2753991" cy="118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20" y="1176642"/>
            <a:ext cx="2753991" cy="77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647" y="1176642"/>
            <a:ext cx="2241295" cy="100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749" y="1176642"/>
            <a:ext cx="2674445" cy="92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749" y="3388137"/>
            <a:ext cx="2917808" cy="96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747" y="3429000"/>
            <a:ext cx="2871593" cy="82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888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D4FD-9C3C-E0F8-1867-FA02F056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E06A-92C3-7D0C-1D2D-F6038C182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0335" y="163517"/>
            <a:ext cx="3211329" cy="6181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FEB90C-ED5B-BDAE-BB6D-620AAF90E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25" y="856862"/>
            <a:ext cx="8385695" cy="41643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B4F117-66A5-DEDF-1EE9-5B50CC51ACF9}"/>
              </a:ext>
            </a:extLst>
          </p:cNvPr>
          <p:cNvSpPr txBox="1"/>
          <p:nvPr/>
        </p:nvSpPr>
        <p:spPr>
          <a:xfrm>
            <a:off x="8773160" y="856862"/>
            <a:ext cx="31775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ESPN Cricinfo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and Beautiful Soup are used.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Premier League 2025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matches data is not scraped.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Ball-by-Ball data was scraped.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row per delivery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scraped from the website is: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B5959-95B4-2C16-C7E6-F63A612A53FC}"/>
              </a:ext>
            </a:extLst>
          </p:cNvPr>
          <p:cNvSpPr txBox="1"/>
          <p:nvPr/>
        </p:nvSpPr>
        <p:spPr>
          <a:xfrm>
            <a:off x="9434195" y="2672744"/>
            <a:ext cx="18554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Number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Date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Innings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Winner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Decision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 Team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Bowling Team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 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Bowler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</a:p>
          <a:p>
            <a:pPr marL="285750" indent="-285750">
              <a:buFont typeface="Arial" panose="020B0604020202020204" pitchFamily="34" charset="0"/>
              <a:buChar char="☻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1501978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B0C6-3557-2F54-3E71-238B63D3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0213-EEF7-7923-CAEF-B842F875C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1322" y="104245"/>
            <a:ext cx="1889356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1D3D13-C260-D539-998D-5C6B1767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813858"/>
            <a:ext cx="7802849" cy="4558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DDA823-CA91-7690-1D59-3AAF07CB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080"/>
          <a:stretch>
            <a:fillRect/>
          </a:stretch>
        </p:blipFill>
        <p:spPr>
          <a:xfrm>
            <a:off x="8206741" y="813858"/>
            <a:ext cx="3702758" cy="440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4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5A55-8182-34E7-A388-5BBFA345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8D32-6339-3E48-8C1A-7540F6A35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7142" y="317309"/>
            <a:ext cx="7117715" cy="6181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the summary of the data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0CBCC-985E-0806-E505-BA12766E8AD7}"/>
              </a:ext>
            </a:extLst>
          </p:cNvPr>
          <p:cNvSpPr txBox="1"/>
          <p:nvPr/>
        </p:nvSpPr>
        <p:spPr>
          <a:xfrm>
            <a:off x="975360" y="1218061"/>
            <a:ext cx="104292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have 16242 record and 14 fields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Date is in object dtype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Convert to datetime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Score is in object dtype  Convert to int64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Toss Winner, Batting Team, Bowling Team names are in short form, like Sunrisers Hyderabad as SRH  Convert the team names to full names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Batter and Bowler names are not extracted clearly replace them properly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Score filed is in object dtype and it contains the mixed score  values from the extract  Bat_runs, Extras, and Wicket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Create a Total_runs field it contains the runs of Bat_runs + Extras.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Toss Decision is in lowercase  Convert to Title case.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 missing (NULL) values detected.</a:t>
            </a:r>
          </a:p>
        </p:txBody>
      </p:sp>
    </p:spTree>
    <p:extLst>
      <p:ext uri="{BB962C8B-B14F-4D97-AF65-F5344CB8AC3E}">
        <p14:creationId xmlns:p14="http://schemas.microsoft.com/office/powerpoint/2010/main" val="254079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2078-6533-AF44-1893-DF920EE3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1A3-81A4-6E2E-7264-4172B5B07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821" y="107755"/>
            <a:ext cx="3048317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72F9E8-CD52-DA57-8781-ACA462EF492C}"/>
              </a:ext>
            </a:extLst>
          </p:cNvPr>
          <p:cNvSpPr txBox="1"/>
          <p:nvPr/>
        </p:nvSpPr>
        <p:spPr>
          <a:xfrm>
            <a:off x="975360" y="811653"/>
            <a:ext cx="104292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 Team, Bowling Team and Toss Winner names are replaced with their full names.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Decision is converted to the Title case.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Bat_runs, Extras and Wickets fields are parsed from the Score field.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Total_runs field is created. This field is created by adding the Bat_runs and Extras per delivery.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the unique batters and bowlers from the each team and replaced the inconsistent names with the consisted names.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conversion is done on the Match Date field from object to datetime datatype.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Number field data r are replaced from 1</a:t>
            </a:r>
            <a:r>
              <a:rPr lang="en-IN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 to 1 except playoff matches.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Phase field was created based on the below condition:</a:t>
            </a:r>
          </a:p>
          <a:p>
            <a:pPr marL="285750" lvl="4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Over 0  to 6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Power Play	</a:t>
            </a:r>
          </a:p>
          <a:p>
            <a:pPr marL="285750" lvl="4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Over 7 to 15  Middle Overs</a:t>
            </a:r>
          </a:p>
          <a:p>
            <a:pPr marL="285750" lvl="4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Over 16 to 20  Death Overs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 missing (NULL) values detected.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performing the data cleaning and manipulation the shape of the data changed. (16242,14)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(16242,19).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60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C7E2-BBC6-6404-DC8B-12289DC9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FCB-9E1D-621C-BA15-C14A3E758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224" y="2414743"/>
            <a:ext cx="2495551" cy="286728"/>
          </a:xfrm>
        </p:spPr>
        <p:txBody>
          <a:bodyPr>
            <a:normAutofit/>
          </a:bodyPr>
          <a:lstStyle/>
          <a:p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before cleaning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C1496-B58E-F43F-4726-DD637E6A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75"/>
          <a:stretch>
            <a:fillRect/>
          </a:stretch>
        </p:blipFill>
        <p:spPr>
          <a:xfrm>
            <a:off x="875571" y="303061"/>
            <a:ext cx="10440857" cy="2073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982FF-90A4-32E7-254C-1DB7ABEC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73" y="2753516"/>
            <a:ext cx="8221081" cy="3056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9C622D-AB74-BC6E-9C9C-8F183C4CE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980" y="2759866"/>
            <a:ext cx="1543064" cy="30879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125EABA-0B9B-C491-0301-762F3D4DF691}"/>
              </a:ext>
            </a:extLst>
          </p:cNvPr>
          <p:cNvSpPr txBox="1">
            <a:spLocks/>
          </p:cNvSpPr>
          <p:nvPr/>
        </p:nvSpPr>
        <p:spPr>
          <a:xfrm>
            <a:off x="4848223" y="5809680"/>
            <a:ext cx="2495551" cy="28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after cleaning</a:t>
            </a:r>
          </a:p>
        </p:txBody>
      </p:sp>
    </p:spTree>
    <p:extLst>
      <p:ext uri="{BB962C8B-B14F-4D97-AF65-F5344CB8AC3E}">
        <p14:creationId xmlns:p14="http://schemas.microsoft.com/office/powerpoint/2010/main" val="361680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4AF75-07D6-B84C-6599-7C1078BE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EE07-6E3A-7330-CE3F-97DD37DA3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360" y="5361144"/>
            <a:ext cx="2495551" cy="286728"/>
          </a:xfrm>
        </p:spPr>
        <p:txBody>
          <a:bodyPr>
            <a:normAutofit/>
          </a:bodyPr>
          <a:lstStyle/>
          <a:p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before cleaning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C2C6CB-4C7A-A2C5-FC95-C8B6591520B0}"/>
              </a:ext>
            </a:extLst>
          </p:cNvPr>
          <p:cNvSpPr txBox="1">
            <a:spLocks/>
          </p:cNvSpPr>
          <p:nvPr/>
        </p:nvSpPr>
        <p:spPr>
          <a:xfrm>
            <a:off x="7693024" y="5361144"/>
            <a:ext cx="2495551" cy="28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after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F1F87-C547-818E-720F-682D4F75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516" y="651985"/>
            <a:ext cx="3943900" cy="45440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92B895-C552-6F67-7F56-E3DEC294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7" y="1193859"/>
            <a:ext cx="3668839" cy="37905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75704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97F49-A651-F5CD-37FE-9E8996EA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E303-6167-D49C-70C0-411411AB6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918" y="193480"/>
            <a:ext cx="4126124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4E3D6-B865-F04F-CE07-604DE7744F45}"/>
              </a:ext>
            </a:extLst>
          </p:cNvPr>
          <p:cNvSpPr txBox="1"/>
          <p:nvPr/>
        </p:nvSpPr>
        <p:spPr>
          <a:xfrm>
            <a:off x="975360" y="811653"/>
            <a:ext cx="104292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total 10 unique teams are participated in the IPL..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ten teams played in the IPL 2025 series are: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Challengers Bengaluru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Kolkata Knight Riders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Rajasthan Royals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Sunrisers Hyderabad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Super Kings 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Capitals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Lucknow Super Giants-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Gujarat Titans</a:t>
            </a:r>
          </a:p>
          <a:p>
            <a:pPr marL="901700" lvl="8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</a:t>
            </a:r>
          </a:p>
          <a:p>
            <a:pPr marL="558800" lvl="8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8" indent="-285750"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data set, 70 matches ball-by-ball data is available.</a:t>
            </a:r>
          </a:p>
          <a:p>
            <a:pPr marL="463550" lvl="8" indent="-285750"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matches are held in 58 days.</a:t>
            </a:r>
          </a:p>
          <a:p>
            <a:pPr marL="463550" lvl="8" indent="-285750"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70 matches are held in 13 venues and in 14 cities.(Venue and City count is not matched that means there is some inconsistency in them)</a:t>
            </a:r>
          </a:p>
          <a:p>
            <a:pPr marL="463550" lvl="8" indent="-285750">
              <a:buFont typeface="Times New Roman" panose="02020603050405020304" pitchFamily="18" charset="0"/>
              <a:buChar char="֍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matches are held in March, April, May, June months. In these months most of the matches are held in the April month.</a:t>
            </a:r>
          </a:p>
        </p:txBody>
      </p:sp>
    </p:spTree>
    <p:extLst>
      <p:ext uri="{BB962C8B-B14F-4D97-AF65-F5344CB8AC3E}">
        <p14:creationId xmlns:p14="http://schemas.microsoft.com/office/powerpoint/2010/main" val="1190653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BFA50-2FF4-B882-4DAC-12EB6C4E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BDA7B0-4F61-A988-1284-E1887A8D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85" y="787305"/>
            <a:ext cx="2410161" cy="676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6C9650-6F2B-2D80-B583-882C4997F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93" y="787305"/>
            <a:ext cx="1886213" cy="609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9C2F49-BBFE-F430-8BA4-B42B9C014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686" y="787305"/>
            <a:ext cx="1505160" cy="5048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A4B339-EBC0-2E31-511B-73BAA4F5A167}"/>
              </a:ext>
            </a:extLst>
          </p:cNvPr>
          <p:cNvSpPr txBox="1"/>
          <p:nvPr/>
        </p:nvSpPr>
        <p:spPr>
          <a:xfrm>
            <a:off x="1026160" y="1776853"/>
            <a:ext cx="1042924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entire IPL 2025 series, the total runs scored by all the teams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24838.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Bat_runs scored by the all the teams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23703.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Extras given by the all the teams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1135.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total runs most of the contribution is from the Bat_runs.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i.e., In the Total runs most of the runs came from the bat runs.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 impact is less on the total runs. 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Total runs  most of runs are singles.</a:t>
            </a:r>
          </a:p>
        </p:txBody>
      </p:sp>
    </p:spTree>
    <p:extLst>
      <p:ext uri="{BB962C8B-B14F-4D97-AF65-F5344CB8AC3E}">
        <p14:creationId xmlns:p14="http://schemas.microsoft.com/office/powerpoint/2010/main" val="126702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2666-96C1-8264-5255-CB85D0AE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F8EAED-21CA-85F1-CFC5-133308C0680A}"/>
              </a:ext>
            </a:extLst>
          </p:cNvPr>
          <p:cNvSpPr txBox="1"/>
          <p:nvPr/>
        </p:nvSpPr>
        <p:spPr>
          <a:xfrm>
            <a:off x="5073954" y="875350"/>
            <a:ext cx="6436056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Balls per Stadium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Narendra Modi Stadium recorded the highest number of deliveries, indicating it hosted the most matches. </a:t>
            </a: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 Ratna Shri Atal Bihari Vajpayee Ekana Cricket Stadium and Arun Jaitley Stadium also had high match activity. </a:t>
            </a: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venues like Himachal Pradesh Cricket Association Stadium had significantly fewer deliveries, indicating limited match hosting.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F2611-A860-D805-0E1B-B91B7E98149F}"/>
              </a:ext>
            </a:extLst>
          </p:cNvPr>
          <p:cNvSpPr txBox="1"/>
          <p:nvPr/>
        </p:nvSpPr>
        <p:spPr>
          <a:xfrm>
            <a:off x="4617721" y="3958086"/>
            <a:ext cx="6892289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of Runs per Ball</a:t>
            </a:r>
          </a:p>
          <a:p>
            <a:pPr algn="ctr">
              <a:spcAft>
                <a:spcPts val="600"/>
              </a:spcAft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deliveries resulted in 0 or 1 run, showing that dot balls and singles dominate T20 gameplay.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scores (4s and 6s) occur less frequently but contribute significantly to total runs.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right-skewed, meaning high scores are rare but impactful.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scoring (singles) builds innings, while boundaries accelerate totals.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D1396D-E936-13F0-8566-3051890E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62617" y="195894"/>
            <a:ext cx="2515069" cy="3768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AutoShape 4" descr="Uploaded image">
            <a:extLst>
              <a:ext uri="{FF2B5EF4-FFF2-40B4-BE49-F238E27FC236}">
                <a16:creationId xmlns:a16="http://schemas.microsoft.com/office/drawing/2014/main" id="{E4664AF0-0EBB-B288-4D60-143754345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C53A198-8FBA-67C3-029F-06F6AB37F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52" y="3649477"/>
            <a:ext cx="3860899" cy="279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B73A68-D0DE-B7AF-40F7-BF0C73AC4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918" y="193480"/>
            <a:ext cx="4126124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54495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57DE-0B85-77F4-245A-D92C2738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F0CDE9-BAB6-CB90-4986-BF04BD1E6358}"/>
              </a:ext>
            </a:extLst>
          </p:cNvPr>
          <p:cNvSpPr txBox="1"/>
          <p:nvPr/>
        </p:nvSpPr>
        <p:spPr>
          <a:xfrm>
            <a:off x="5114500" y="796292"/>
            <a:ext cx="6212629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(Total Runs per Ball)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 plot shows that most values lie between 0–2 runs per ball.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values like 6 and 7 runs are outliers, occurring rarely.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is around 1 run per ball, confirming typical scoring behavior.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36B9535-E6AB-4A49-3297-E3EB38973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99" y="479594"/>
            <a:ext cx="3869251" cy="25607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C54CAB-2593-F4A3-604C-1707332F2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59" y="3209794"/>
            <a:ext cx="3777191" cy="34515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076AB8-8337-F25B-D659-31402282762F}"/>
              </a:ext>
            </a:extLst>
          </p:cNvPr>
          <p:cNvSpPr txBox="1"/>
          <p:nvPr/>
        </p:nvSpPr>
        <p:spPr>
          <a:xfrm>
            <a:off x="5127412" y="4145282"/>
            <a:ext cx="621262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 Count per Phase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Overs (7–15) have the highest number of deliveries.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Powerplay (0–6) and then Death Overs (16–20).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overs dominate the game in terms of volume.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plays a critical role in building or controlling the innings.</a:t>
            </a:r>
          </a:p>
          <a:p>
            <a:pPr algn="just">
              <a:spcAft>
                <a:spcPts val="6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35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2DAA-47E8-AFFE-C551-8A2F2C2F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BE90-042D-095E-1350-9C64BC416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918" y="193480"/>
            <a:ext cx="4126124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B51F3-5D26-FA21-F2FF-7FF77DA18EA6}"/>
              </a:ext>
            </a:extLst>
          </p:cNvPr>
          <p:cNvSpPr txBox="1"/>
          <p:nvPr/>
        </p:nvSpPr>
        <p:spPr>
          <a:xfrm>
            <a:off x="5113147" y="2114743"/>
            <a:ext cx="62797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central tendency analysis, in every match together in both innings the teams are scoring 361 runs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that in each innings each team is scoring 180-185 runs.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 is performed for the Total_runs vs Extras, Bat_runs vs Total_runs , and Bat_runs vs Total_runs vs Extras.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Bat_runs and Total_runs have Strong Positive Correlation.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 and Total_runs have Weak Positive Correlation.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Bat_runs and Extras have Weak Negative Correlation.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above correlations Bat_runs are highly impacting the Total_runs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1037C-FB34-354E-C4B2-F2BE7B7B7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84" y="811653"/>
            <a:ext cx="3027934" cy="3349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61840-70F5-CDD1-B99D-D7C24E8CE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21" y="4273985"/>
            <a:ext cx="1644189" cy="828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36CC93-70A1-61B7-5107-A886A2AC7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51" y="4276544"/>
            <a:ext cx="1833319" cy="8309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BEE666-8C5A-518F-AB2C-0E0421F7E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87" y="5223286"/>
            <a:ext cx="2606523" cy="121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6C01F-8E08-7A13-B746-336174C1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80B147C-1EE5-C5A3-D05A-3B8DEED6051E}"/>
              </a:ext>
            </a:extLst>
          </p:cNvPr>
          <p:cNvSpPr txBox="1"/>
          <p:nvPr/>
        </p:nvSpPr>
        <p:spPr>
          <a:xfrm>
            <a:off x="6096000" y="828973"/>
            <a:ext cx="5001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Challengers Bengaluru and Kolkata Knight Riders conceded less extras when compared to the other teams .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can say that the Royal Challengers Bengaluru has the best bowlers and bowling unit.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68409-F108-B0C2-0639-A84D5B47F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1" y="592289"/>
            <a:ext cx="4963218" cy="238158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CECEF73-9D10-5966-B6A6-A488C26AF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39" y="3099601"/>
            <a:ext cx="2952750" cy="3258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C90BF-E3A6-CF4F-210E-4CD1DF594888}"/>
              </a:ext>
            </a:extLst>
          </p:cNvPr>
          <p:cNvSpPr txBox="1"/>
          <p:nvPr/>
        </p:nvSpPr>
        <p:spPr>
          <a:xfrm>
            <a:off x="6267450" y="3808887"/>
            <a:ext cx="545973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Batting Teams by Total Runs</a:t>
            </a:r>
          </a:p>
          <a:p>
            <a:pPr algn="ctr"/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scored the highest total runs, indicating dominant overall batting performance.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 and Gujarat Titans follow closely as strong batting sides.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Kolkata Knight Riders recorded the lowest total runs among the teams. </a:t>
            </a:r>
          </a:p>
          <a:p>
            <a:pPr marL="285750" indent="-285750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had the most consistent high-scoring batting lineup in the tournament.</a:t>
            </a:r>
          </a:p>
          <a:p>
            <a:pPr marL="285750" indent="-285750">
              <a:buFont typeface="Times New Roman" panose="02020603050405020304" pitchFamily="18" charset="0"/>
              <a:buChar char="֍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603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EEF91-9CCA-BB45-36DE-A55B9FA5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0E3A65-1199-5D9F-9FF6-58F6EDC192F8}"/>
              </a:ext>
            </a:extLst>
          </p:cNvPr>
          <p:cNvSpPr txBox="1"/>
          <p:nvPr/>
        </p:nvSpPr>
        <p:spPr>
          <a:xfrm>
            <a:off x="6434426" y="570567"/>
            <a:ext cx="5465472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Runs per Delivery by Team</a:t>
            </a:r>
          </a:p>
          <a:p>
            <a:pPr algn="ctr"/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and Gujarat Titans show the highest average runs per ball → strong scoring efficiency.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Super Kings has the lowest run rate → relatively slower scoring.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teams fall within a narrow range → competitive balance across teams.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strike rate (runs per ball) directly reflects batting efficiency, not just total runs.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Wickets by Phase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Overs (7–15) recorded the highest number of wickets.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Death Overs, while Powerplay has the least wickets.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overs are the most critical phase for breaking partnerships.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rely on bowlers in this phase to control the game.</a:t>
            </a:r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Wins Distribution</a:t>
            </a:r>
          </a:p>
          <a:p>
            <a:pPr algn="ctr"/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won the most tosses (11 times).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Lucknow Super Giants won the fewest tosses (5 times).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wins are relatively evenly distributed among teams.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advantage exists but is not extremely skewed, meaning outcomes depend more on performance than luck.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848B44A-C69C-148C-1A4A-B7AF168DF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4" y="449580"/>
            <a:ext cx="2221356" cy="250735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F018541-6962-FDFF-F11F-1FC17A2C4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3487010"/>
            <a:ext cx="3869705" cy="2719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B75AC08-5BBC-B298-E2F7-F62107C37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526" y="449580"/>
            <a:ext cx="2929474" cy="271912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255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9DFB-3D7B-E002-2157-0010D84C1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F9C1-300C-CCFA-1A0C-C5755BCAC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918" y="193480"/>
            <a:ext cx="4126124" cy="61817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BC4C8-AAB7-0812-448F-37EE1ED0F69E}"/>
              </a:ext>
            </a:extLst>
          </p:cNvPr>
          <p:cNvSpPr txBox="1"/>
          <p:nvPr/>
        </p:nvSpPr>
        <p:spPr>
          <a:xfrm>
            <a:off x="5433304" y="811653"/>
            <a:ext cx="644144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 Runs vs Total Runs</a:t>
            </a:r>
          </a:p>
          <a:p>
            <a:pPr algn="just"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 (≈ 0.98)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Bat_runs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Total_runs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 contribution is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driver of total score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 have minimal influence compared to bat runs. 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 Relationship</a:t>
            </a:r>
          </a:p>
          <a:p>
            <a:pPr algn="just"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correlation between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Total_runs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(~0.03). </a:t>
            </a:r>
          </a:p>
          <a:p>
            <a:pPr algn="just"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 with Bat_runs (-0.157)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 do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significantly impact match totals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extras do not necessarily mean higher scoring matches. 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Wickets Impact</a:t>
            </a:r>
          </a:p>
          <a:p>
            <a:pPr algn="just">
              <a:spcAft>
                <a:spcPts val="600"/>
              </a:spcAft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 with Total_runs (-0.196)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wickets → lower total score.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Wicket-taking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for restricting runs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703A1B-8558-68CE-7F3A-1676C362F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29" y="1194435"/>
            <a:ext cx="4908667" cy="40747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607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5FAA-998E-857B-CF6E-FE778768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44A1519-4F32-8B6A-D565-BB1B5172C7D9}"/>
              </a:ext>
            </a:extLst>
          </p:cNvPr>
          <p:cNvSpPr txBox="1"/>
          <p:nvPr/>
        </p:nvSpPr>
        <p:spPr>
          <a:xfrm>
            <a:off x="7094220" y="108931"/>
            <a:ext cx="5097780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Powerplay Performance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Powerplay scores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across teams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leads (~950 runs).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overs are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aggression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maximum scoring. </a:t>
            </a:r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Overs Dominate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teams score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runs in Middle Overs (7–15)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overs are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crucial phase for building innings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accumulation rather than aggression alone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 Overs Trends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 overs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totals compared to middle overs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Contrary to expectation, death overs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the highest scoring phase overall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006475" lvl="2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 due to: </a:t>
            </a:r>
          </a:p>
          <a:p>
            <a:pPr marL="1006475" lvl="3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situations </a:t>
            </a:r>
          </a:p>
          <a:p>
            <a:pPr marL="1006475" lvl="3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Wickets falling </a:t>
            </a:r>
          </a:p>
          <a:p>
            <a:pPr marL="1006475" lvl="3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bowling strategies</a:t>
            </a:r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Teams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and Gujarat Titans scored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runs in middle overs (~1250+)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 also shows strong performance across all phases. 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teams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batting strength across phases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B44B327-8537-07A3-E852-5C60F678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9" y="1178460"/>
            <a:ext cx="6774308" cy="425615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71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B94C-B514-2E62-9246-A3CAF402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FFB4-DC9D-D285-01E8-5A65B90DB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918" y="193480"/>
            <a:ext cx="4126124" cy="61817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0FD79-D462-F1D3-F7CF-7DB15235CBDC}"/>
              </a:ext>
            </a:extLst>
          </p:cNvPr>
          <p:cNvSpPr txBox="1"/>
          <p:nvPr/>
        </p:nvSpPr>
        <p:spPr>
          <a:xfrm>
            <a:off x="1157091" y="1089898"/>
            <a:ext cx="1006577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performing the analysis, key insights are:</a:t>
            </a:r>
          </a:p>
          <a:p>
            <a:pPr marL="285750" indent="-285750" algn="just">
              <a:spcAft>
                <a:spcPts val="600"/>
              </a:spcAft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teams qualified  for the playoff are </a:t>
            </a:r>
          </a:p>
          <a:p>
            <a:pPr marL="796925" lvl="1" indent="-3492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	</a:t>
            </a:r>
          </a:p>
          <a:p>
            <a:pPr marL="796925" lvl="1" indent="-3492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Challengers Bengaluru</a:t>
            </a:r>
          </a:p>
          <a:p>
            <a:pPr marL="796925" lvl="1" indent="-3492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Indians</a:t>
            </a:r>
          </a:p>
          <a:p>
            <a:pPr marL="796925" lvl="1" indent="-3492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Gujarat Titans</a:t>
            </a: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have the highest winning percentage with 75% and later Royal Challengers Bengaluru has in the 2</a:t>
            </a:r>
            <a:r>
              <a:rPr lang="en-IN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 with 66.66 %.</a:t>
            </a: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entire series First batting has the more winning success rate with 55.71% and Chasing has 44.28% winning success rate.</a:t>
            </a: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Sunrisers Hyderabad has the highest average score in the series,</a:t>
            </a: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 Bengaluru has the best bowling average in the series.</a:t>
            </a:r>
          </a:p>
          <a:p>
            <a:pPr lvl="1"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teams are dominating in the Middle overs in the batting.</a:t>
            </a:r>
          </a:p>
        </p:txBody>
      </p:sp>
    </p:spTree>
    <p:extLst>
      <p:ext uri="{BB962C8B-B14F-4D97-AF65-F5344CB8AC3E}">
        <p14:creationId xmlns:p14="http://schemas.microsoft.com/office/powerpoint/2010/main" val="333132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2FA9-CEB7-EEFC-674E-A5060DE0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88BF3-F544-7EC4-C290-844E0C331688}"/>
              </a:ext>
            </a:extLst>
          </p:cNvPr>
          <p:cNvSpPr txBox="1"/>
          <p:nvPr/>
        </p:nvSpPr>
        <p:spPr>
          <a:xfrm>
            <a:off x="644980" y="1443841"/>
            <a:ext cx="58729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series, Royal Challenger Bengaluru and Punjab Kings are played the Final Match.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Punjab Kings won the toss and opted to field first. 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final match Royal Challengers Bengaluru was first batted and scored 190 runs.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Punjab Kings failed to chase these in the chasing and scored 184 runs,.</a:t>
            </a: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final match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Challengers Bengaluru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won the Match.</a:t>
            </a: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CBEECA-8206-20E1-365E-7E4D9D462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431" y="2063988"/>
            <a:ext cx="3949429" cy="222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3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E0AC-BB0A-8A55-EB7B-C3CF12BB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6D32B7-11A1-382B-FBF9-F512234BDDD3}"/>
              </a:ext>
            </a:extLst>
          </p:cNvPr>
          <p:cNvSpPr txBox="1"/>
          <p:nvPr/>
        </p:nvSpPr>
        <p:spPr>
          <a:xfrm>
            <a:off x="1169913" y="1188216"/>
            <a:ext cx="9958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Times New Roman" panose="02020603050405020304" pitchFamily="18" charset="0"/>
              <a:buChar char="֍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Final Match,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Challengers Bengaluru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defeated the Punjab Kings by 6 runs and won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2025 TROPHY.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7B064-E504-686E-EB9B-39827ADD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298" y="1834547"/>
            <a:ext cx="3803404" cy="475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30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8254-33FF-CADA-964B-1E43D3AE6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3EB104-D1DD-31A7-F61F-10B6FC41E920}"/>
              </a:ext>
            </a:extLst>
          </p:cNvPr>
          <p:cNvSpPr txBox="1"/>
          <p:nvPr/>
        </p:nvSpPr>
        <p:spPr>
          <a:xfrm>
            <a:off x="651510" y="643748"/>
            <a:ext cx="660653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Times New Roman" panose="02020603050405020304" pitchFamily="18" charset="0"/>
              <a:buChar char="֍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CAP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B.Sai Sudarshan</a:t>
            </a:r>
          </a:p>
          <a:p>
            <a:pPr marL="342900" indent="-342900">
              <a:buFont typeface="Times New Roman" panose="02020603050405020304" pitchFamily="18" charset="0"/>
              <a:buChar char="֍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Times New Roman" panose="02020603050405020304" pitchFamily="18" charset="0"/>
              <a:buChar char="֍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PURPLE CAP: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Prasidh Krishna</a:t>
            </a:r>
          </a:p>
          <a:p>
            <a:pPr marL="342900" indent="-342900">
              <a:buFont typeface="Times New Roman" panose="02020603050405020304" pitchFamily="18" charset="0"/>
              <a:buChar char="֍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Times New Roman" panose="02020603050405020304" pitchFamily="18" charset="0"/>
              <a:buChar char="֍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SCORING MATCH :</a:t>
            </a:r>
          </a:p>
          <a:p>
            <a:pPr marL="342900" indent="-342900">
              <a:buFont typeface="Times New Roman" panose="02020603050405020304" pitchFamily="18" charset="0"/>
              <a:buChar char="֍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Times New Roman" panose="02020603050405020304" pitchFamily="18" charset="0"/>
              <a:buChar char="֍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 Sunrisers Hyderabad scored 286 runs in an innings.</a:t>
            </a:r>
          </a:p>
          <a:p>
            <a:pPr marL="342900" indent="-342900">
              <a:buFont typeface="Times New Roman" panose="02020603050405020304" pitchFamily="18" charset="0"/>
              <a:buChar char="֍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Times New Roman" panose="02020603050405020304" pitchFamily="18" charset="0"/>
              <a:buChar char="֍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top 5 highest scoring innings. Top 3 is filled with the Sunrisers Hyderabad. Next two is filled by the Punjab kings. This showing the batting potential of the two teams.</a:t>
            </a:r>
          </a:p>
          <a:p>
            <a:pPr marL="342900" indent="-342900">
              <a:buFont typeface="Times New Roman" panose="02020603050405020304" pitchFamily="18" charset="0"/>
              <a:buChar char="֍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Times New Roman" panose="02020603050405020304" pitchFamily="18" charset="0"/>
              <a:buChar char="֍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SCORE BY AN INDIVIDUAL PLAYER :</a:t>
            </a:r>
          </a:p>
          <a:p>
            <a:pPr marL="35401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Sharma scored 141 runs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☺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F35149-7892-142F-6069-6C0CAD4781AC}"/>
              </a:ext>
            </a:extLst>
          </p:cNvPr>
          <p:cNvGrpSpPr/>
          <p:nvPr/>
        </p:nvGrpSpPr>
        <p:grpSpPr>
          <a:xfrm>
            <a:off x="6895680" y="200448"/>
            <a:ext cx="1440000" cy="2689005"/>
            <a:chOff x="852158" y="905662"/>
            <a:chExt cx="1440000" cy="268900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D52349-156A-00D6-9D53-FF224315F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2158" y="905662"/>
              <a:ext cx="1440000" cy="183134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411D7E-7C5A-A2E2-9216-35A4C3C2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2158" y="2718583"/>
              <a:ext cx="1440000" cy="876084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238349-1A4D-37ED-36B9-568521073782}"/>
              </a:ext>
            </a:extLst>
          </p:cNvPr>
          <p:cNvGrpSpPr/>
          <p:nvPr/>
        </p:nvGrpSpPr>
        <p:grpSpPr>
          <a:xfrm>
            <a:off x="10407721" y="200448"/>
            <a:ext cx="1254270" cy="2689005"/>
            <a:chOff x="5215110" y="905662"/>
            <a:chExt cx="1440000" cy="31309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0BBFC68-9A1E-1940-224D-56A724827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5110" y="905662"/>
              <a:ext cx="1440000" cy="193326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1F995EB-AA67-93CE-1F7C-69D13329C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5110" y="2802295"/>
              <a:ext cx="1440000" cy="123428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9237B4-4DF5-B437-E502-D29CDF4CF4A8}"/>
              </a:ext>
            </a:extLst>
          </p:cNvPr>
          <p:cNvGrpSpPr/>
          <p:nvPr/>
        </p:nvGrpSpPr>
        <p:grpSpPr>
          <a:xfrm>
            <a:off x="8561700" y="2576370"/>
            <a:ext cx="1620001" cy="3423184"/>
            <a:chOff x="9330897" y="905662"/>
            <a:chExt cx="1620001" cy="34231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8FD3F1-9E3B-6365-9F1A-072979C8E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30897" y="905662"/>
              <a:ext cx="1620000" cy="204260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E9447A1-EAF4-E4E9-10E7-8DA84860E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30898" y="2948701"/>
              <a:ext cx="1620000" cy="13801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9284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9E7A2B-DC39-AB66-A765-476CA2D1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432" y="5074920"/>
            <a:ext cx="5057775" cy="1666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5BA0AD-ED26-DF94-007B-90AC8B17D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469" y="330200"/>
            <a:ext cx="7759700" cy="4849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1994</Words>
  <Application>Microsoft Office PowerPoint</Application>
  <PresentationFormat>Widescreen</PresentationFormat>
  <Paragraphs>253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Times New Roman</vt:lpstr>
      <vt:lpstr>Calibri</vt:lpstr>
      <vt:lpstr>Arial</vt:lpstr>
      <vt:lpstr>Office Theme</vt:lpstr>
      <vt:lpstr>PowerPoint Presentation</vt:lpstr>
      <vt:lpstr>Introduction</vt:lpstr>
      <vt:lpstr>Problem Statements</vt:lpstr>
      <vt:lpstr>Objectives</vt:lpstr>
      <vt:lpstr>Tools Used</vt:lpstr>
      <vt:lpstr>Web Scraping</vt:lpstr>
      <vt:lpstr>Dataset</vt:lpstr>
      <vt:lpstr>Insights from the summary of the data</vt:lpstr>
      <vt:lpstr>Data Cleaning</vt:lpstr>
      <vt:lpstr>Data before cleaning</vt:lpstr>
      <vt:lpstr>Data before cleaning</vt:lpstr>
      <vt:lpstr>Univariate Analysis</vt:lpstr>
      <vt:lpstr>PowerPoint Presentation</vt:lpstr>
      <vt:lpstr>Data Visualization</vt:lpstr>
      <vt:lpstr>PowerPoint Presentation</vt:lpstr>
      <vt:lpstr>Bivariate Analysis</vt:lpstr>
      <vt:lpstr>PowerPoint Presentation</vt:lpstr>
      <vt:lpstr>PowerPoint Presentation</vt:lpstr>
      <vt:lpstr>Multivariate Analysis</vt:lpstr>
      <vt:lpstr>PowerPoint Presentation</vt:lpstr>
      <vt:lpstr>Key Insights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KORA KASI OBUL REDDY</cp:lastModifiedBy>
  <cp:revision>17</cp:revision>
  <dcterms:created xsi:type="dcterms:W3CDTF">2021-02-16T05:19:01Z</dcterms:created>
  <dcterms:modified xsi:type="dcterms:W3CDTF">2026-04-08T10:17:00Z</dcterms:modified>
</cp:coreProperties>
</file>